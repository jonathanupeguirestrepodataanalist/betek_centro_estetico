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49F407-8F96-41C6-B2EF-9A9E48BB311C}" type="doc">
      <dgm:prSet loTypeId="urn:microsoft.com/office/officeart/2018/5/layout/IconCircleLabelList" loCatId="icon" qsTypeId="urn:microsoft.com/office/officeart/2005/8/quickstyle/3d4" qsCatId="3D" csTypeId="urn:microsoft.com/office/officeart/2018/5/colors/Iconchunking_neutralbg_colorful1" csCatId="colorful" phldr="1"/>
      <dgm:spPr/>
      <dgm:t>
        <a:bodyPr/>
        <a:lstStyle/>
        <a:p>
          <a:endParaRPr lang="es-CO"/>
        </a:p>
      </dgm:t>
    </dgm:pt>
    <dgm:pt modelId="{308866A2-9383-40AD-B353-92922CBD9622}">
      <dgm:prSet phldrT="[Texto]"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 sz="2000" cap="none" dirty="0"/>
            <a:t>Baja ocupación en días específicos como miércoles, jueves y viernes.</a:t>
          </a:r>
        </a:p>
      </dgm:t>
    </dgm:pt>
    <dgm:pt modelId="{9F9C067C-2FC3-4A24-B266-0C202877F434}" type="parTrans" cxnId="{4EB9A3CE-036C-48DA-BB0F-4695B2BED8A5}">
      <dgm:prSet/>
      <dgm:spPr/>
      <dgm:t>
        <a:bodyPr/>
        <a:lstStyle/>
        <a:p>
          <a:endParaRPr lang="es-CO" sz="2000"/>
        </a:p>
      </dgm:t>
    </dgm:pt>
    <dgm:pt modelId="{B8843110-56C2-4812-B9D3-F2A242951B8B}" type="sibTrans" cxnId="{4EB9A3CE-036C-48DA-BB0F-4695B2BED8A5}">
      <dgm:prSet/>
      <dgm:spPr/>
      <dgm:t>
        <a:bodyPr/>
        <a:lstStyle/>
        <a:p>
          <a:endParaRPr lang="es-CO" sz="2000"/>
        </a:p>
      </dgm:t>
    </dgm:pt>
    <dgm:pt modelId="{04CA15BF-42E7-4AED-A2E2-5321814A3F18}">
      <dgm:prSet phldrT="[Texto]"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 sz="2000" cap="none" dirty="0"/>
            <a:t>Los procedimientos y productos se ofrecen de forma individual.</a:t>
          </a:r>
        </a:p>
      </dgm:t>
    </dgm:pt>
    <dgm:pt modelId="{B2A9A20B-6766-427D-864D-E5E938E37CD7}" type="parTrans" cxnId="{9DA3DCB9-9A2F-4A7C-AAF5-37F1CFF9E4A5}">
      <dgm:prSet/>
      <dgm:spPr/>
      <dgm:t>
        <a:bodyPr/>
        <a:lstStyle/>
        <a:p>
          <a:endParaRPr lang="es-CO" sz="2000"/>
        </a:p>
      </dgm:t>
    </dgm:pt>
    <dgm:pt modelId="{1A05C97D-E458-4649-8385-EB8938D69FF6}" type="sibTrans" cxnId="{9DA3DCB9-9A2F-4A7C-AAF5-37F1CFF9E4A5}">
      <dgm:prSet/>
      <dgm:spPr/>
      <dgm:t>
        <a:bodyPr/>
        <a:lstStyle/>
        <a:p>
          <a:endParaRPr lang="es-CO" sz="2000"/>
        </a:p>
      </dgm:t>
    </dgm:pt>
    <dgm:pt modelId="{79D5B9B9-18B4-42D5-9B9F-27F2DF7D1351}">
      <dgm:prSet phldrT="[Texto]"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 sz="2000" cap="none" dirty="0"/>
            <a:t>Baja participación en la venta de productos en comparación con los servicios.</a:t>
          </a:r>
        </a:p>
      </dgm:t>
    </dgm:pt>
    <dgm:pt modelId="{F3DB7BE5-398B-4462-BE06-B3C9AD90EC93}" type="parTrans" cxnId="{66F18913-A3EC-47F6-866E-08F1714CAD48}">
      <dgm:prSet/>
      <dgm:spPr/>
      <dgm:t>
        <a:bodyPr/>
        <a:lstStyle/>
        <a:p>
          <a:endParaRPr lang="es-CO" sz="2000"/>
        </a:p>
      </dgm:t>
    </dgm:pt>
    <dgm:pt modelId="{FC2AEBF8-C1EF-4AD3-ACD5-46C200FCB445}" type="sibTrans" cxnId="{66F18913-A3EC-47F6-866E-08F1714CAD48}">
      <dgm:prSet/>
      <dgm:spPr/>
      <dgm:t>
        <a:bodyPr/>
        <a:lstStyle/>
        <a:p>
          <a:endParaRPr lang="es-CO" sz="2000"/>
        </a:p>
      </dgm:t>
    </dgm:pt>
    <dgm:pt modelId="{0E4E0EFE-1A98-431F-AF4C-2CF0B30B9D05}">
      <dgm:prSet phldrT="[Texto]"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 sz="2000" cap="none" dirty="0"/>
            <a:t>No evidenciamos un programa de fidelización estructurado.</a:t>
          </a:r>
        </a:p>
      </dgm:t>
    </dgm:pt>
    <dgm:pt modelId="{FAA97931-60AC-428F-A5E5-86E055C61F09}" type="parTrans" cxnId="{6894916C-0C95-495B-BC85-D0639D5A689C}">
      <dgm:prSet/>
      <dgm:spPr/>
      <dgm:t>
        <a:bodyPr/>
        <a:lstStyle/>
        <a:p>
          <a:endParaRPr lang="es-CO" sz="2000"/>
        </a:p>
      </dgm:t>
    </dgm:pt>
    <dgm:pt modelId="{1B2D87C8-EB57-4F59-A13B-CF67ECD9139F}" type="sibTrans" cxnId="{6894916C-0C95-495B-BC85-D0639D5A689C}">
      <dgm:prSet/>
      <dgm:spPr/>
      <dgm:t>
        <a:bodyPr/>
        <a:lstStyle/>
        <a:p>
          <a:endParaRPr lang="es-CO" sz="2000"/>
        </a:p>
      </dgm:t>
    </dgm:pt>
    <dgm:pt modelId="{A88AB8A4-DC99-40D2-B293-C80B99BE8C8B}">
      <dgm:prSet phldrT="[Texto]"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 sz="2000" cap="none" dirty="0"/>
            <a:t>Detección de diferencias en el rendimiento entre especialistas.</a:t>
          </a:r>
        </a:p>
      </dgm:t>
    </dgm:pt>
    <dgm:pt modelId="{2B32C269-E408-40A2-BF87-0489C2E80237}" type="parTrans" cxnId="{51969065-21B9-4566-AA16-B269DE14B5A6}">
      <dgm:prSet/>
      <dgm:spPr/>
      <dgm:t>
        <a:bodyPr/>
        <a:lstStyle/>
        <a:p>
          <a:endParaRPr lang="es-CO" sz="2000"/>
        </a:p>
      </dgm:t>
    </dgm:pt>
    <dgm:pt modelId="{70761F2E-C352-44F3-A109-020BA7CEFB10}" type="sibTrans" cxnId="{51969065-21B9-4566-AA16-B269DE14B5A6}">
      <dgm:prSet/>
      <dgm:spPr/>
      <dgm:t>
        <a:bodyPr/>
        <a:lstStyle/>
        <a:p>
          <a:endParaRPr lang="es-CO" sz="2000"/>
        </a:p>
      </dgm:t>
    </dgm:pt>
    <dgm:pt modelId="{01DA637E-F51D-4B07-BFD1-90E233E99286}" type="pres">
      <dgm:prSet presAssocID="{3049F407-8F96-41C6-B2EF-9A9E48BB311C}" presName="root" presStyleCnt="0">
        <dgm:presLayoutVars>
          <dgm:dir/>
          <dgm:resizeHandles val="exact"/>
        </dgm:presLayoutVars>
      </dgm:prSet>
      <dgm:spPr/>
    </dgm:pt>
    <dgm:pt modelId="{29A58196-61E1-42A2-94BC-A0B521048177}" type="pres">
      <dgm:prSet presAssocID="{308866A2-9383-40AD-B353-92922CBD9622}" presName="compNode" presStyleCnt="0"/>
      <dgm:spPr/>
    </dgm:pt>
    <dgm:pt modelId="{2AD16590-8642-469E-94A4-ED9B574996EA}" type="pres">
      <dgm:prSet presAssocID="{308866A2-9383-40AD-B353-92922CBD9622}" presName="iconBgRect" presStyleLbl="bgShp" presStyleIdx="0" presStyleCnt="5"/>
      <dgm:spPr/>
    </dgm:pt>
    <dgm:pt modelId="{A5DEA723-1EDA-4032-8D4E-55A41D4439F5}" type="pres">
      <dgm:prSet presAssocID="{308866A2-9383-40AD-B353-92922CBD96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áfico de barras con tendencia bajista contorno"/>
        </a:ext>
      </dgm:extLst>
    </dgm:pt>
    <dgm:pt modelId="{B9C561CC-0666-4D42-88F4-9974B4FA66A2}" type="pres">
      <dgm:prSet presAssocID="{308866A2-9383-40AD-B353-92922CBD9622}" presName="spaceRect" presStyleCnt="0"/>
      <dgm:spPr/>
    </dgm:pt>
    <dgm:pt modelId="{02804511-88F8-4C24-9E59-ED772AE70CE6}" type="pres">
      <dgm:prSet presAssocID="{308866A2-9383-40AD-B353-92922CBD9622}" presName="textRect" presStyleLbl="revTx" presStyleIdx="0" presStyleCnt="5">
        <dgm:presLayoutVars>
          <dgm:chMax val="1"/>
          <dgm:chPref val="1"/>
        </dgm:presLayoutVars>
      </dgm:prSet>
      <dgm:spPr/>
    </dgm:pt>
    <dgm:pt modelId="{A9454926-06CD-4D7A-B996-61374440C577}" type="pres">
      <dgm:prSet presAssocID="{B8843110-56C2-4812-B9D3-F2A242951B8B}" presName="sibTrans" presStyleCnt="0"/>
      <dgm:spPr/>
    </dgm:pt>
    <dgm:pt modelId="{933DCEED-2DF3-4CF3-9597-AF65372BE389}" type="pres">
      <dgm:prSet presAssocID="{04CA15BF-42E7-4AED-A2E2-5321814A3F18}" presName="compNode" presStyleCnt="0"/>
      <dgm:spPr/>
    </dgm:pt>
    <dgm:pt modelId="{2FDE3319-4877-433E-B5CD-44B3FECC21DD}" type="pres">
      <dgm:prSet presAssocID="{04CA15BF-42E7-4AED-A2E2-5321814A3F18}" presName="iconBgRect" presStyleLbl="bgShp" presStyleIdx="1" presStyleCnt="5"/>
      <dgm:spPr/>
    </dgm:pt>
    <dgm:pt modelId="{3F0DEB32-9873-4AE8-B7C3-3D4507649C81}" type="pres">
      <dgm:prSet presAssocID="{04CA15BF-42E7-4AED-A2E2-5321814A3F1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mas básicas con relleno sólido"/>
        </a:ext>
      </dgm:extLst>
    </dgm:pt>
    <dgm:pt modelId="{FBF08355-9EC3-4DA5-87D0-2E1D88587E5B}" type="pres">
      <dgm:prSet presAssocID="{04CA15BF-42E7-4AED-A2E2-5321814A3F18}" presName="spaceRect" presStyleCnt="0"/>
      <dgm:spPr/>
    </dgm:pt>
    <dgm:pt modelId="{0D36FC0D-0165-46CF-A549-00D79C1F95B7}" type="pres">
      <dgm:prSet presAssocID="{04CA15BF-42E7-4AED-A2E2-5321814A3F18}" presName="textRect" presStyleLbl="revTx" presStyleIdx="1" presStyleCnt="5">
        <dgm:presLayoutVars>
          <dgm:chMax val="1"/>
          <dgm:chPref val="1"/>
        </dgm:presLayoutVars>
      </dgm:prSet>
      <dgm:spPr/>
    </dgm:pt>
    <dgm:pt modelId="{4AC43ED8-B47A-402A-951E-AD061D612C29}" type="pres">
      <dgm:prSet presAssocID="{1A05C97D-E458-4649-8385-EB8938D69FF6}" presName="sibTrans" presStyleCnt="0"/>
      <dgm:spPr/>
    </dgm:pt>
    <dgm:pt modelId="{D09D2DE4-B039-4339-8418-55C37756671F}" type="pres">
      <dgm:prSet presAssocID="{79D5B9B9-18B4-42D5-9B9F-27F2DF7D1351}" presName="compNode" presStyleCnt="0"/>
      <dgm:spPr/>
    </dgm:pt>
    <dgm:pt modelId="{32AEB4C1-67E5-4A59-A59F-9CBA0D90D936}" type="pres">
      <dgm:prSet presAssocID="{79D5B9B9-18B4-42D5-9B9F-27F2DF7D1351}" presName="iconBgRect" presStyleLbl="bgShp" presStyleIdx="2" presStyleCnt="5"/>
      <dgm:spPr/>
    </dgm:pt>
    <dgm:pt modelId="{C9A134ED-C377-4437-AB15-BCE36B556063}" type="pres">
      <dgm:prSet presAssocID="{79D5B9B9-18B4-42D5-9B9F-27F2DF7D135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tella con relleno sólido"/>
        </a:ext>
      </dgm:extLst>
    </dgm:pt>
    <dgm:pt modelId="{6BD9D8AD-4720-46C7-8D13-B88766A2B0B0}" type="pres">
      <dgm:prSet presAssocID="{79D5B9B9-18B4-42D5-9B9F-27F2DF7D1351}" presName="spaceRect" presStyleCnt="0"/>
      <dgm:spPr/>
    </dgm:pt>
    <dgm:pt modelId="{8CA32564-3C2C-4BF9-B778-F481D4593654}" type="pres">
      <dgm:prSet presAssocID="{79D5B9B9-18B4-42D5-9B9F-27F2DF7D1351}" presName="textRect" presStyleLbl="revTx" presStyleIdx="2" presStyleCnt="5">
        <dgm:presLayoutVars>
          <dgm:chMax val="1"/>
          <dgm:chPref val="1"/>
        </dgm:presLayoutVars>
      </dgm:prSet>
      <dgm:spPr/>
    </dgm:pt>
    <dgm:pt modelId="{2CB316F6-3F6E-4318-9327-49531928AEF1}" type="pres">
      <dgm:prSet presAssocID="{FC2AEBF8-C1EF-4AD3-ACD5-46C200FCB445}" presName="sibTrans" presStyleCnt="0"/>
      <dgm:spPr/>
    </dgm:pt>
    <dgm:pt modelId="{7AD504B1-2A49-4B0F-9A1F-7D439F94B373}" type="pres">
      <dgm:prSet presAssocID="{0E4E0EFE-1A98-431F-AF4C-2CF0B30B9D05}" presName="compNode" presStyleCnt="0"/>
      <dgm:spPr/>
    </dgm:pt>
    <dgm:pt modelId="{0547C263-E96D-49AF-9215-1FF2928043BD}" type="pres">
      <dgm:prSet presAssocID="{0E4E0EFE-1A98-431F-AF4C-2CF0B30B9D05}" presName="iconBgRect" presStyleLbl="bgShp" presStyleIdx="3" presStyleCnt="5"/>
      <dgm:spPr/>
    </dgm:pt>
    <dgm:pt modelId="{66D8ADB3-1579-40DA-9BA6-6DE25532DA39}" type="pres">
      <dgm:prSet presAssocID="{0E4E0EFE-1A98-431F-AF4C-2CF0B30B9D0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o de hombres con relleno sólido"/>
        </a:ext>
      </dgm:extLst>
    </dgm:pt>
    <dgm:pt modelId="{EBFA643E-7416-45D8-84A2-B23C95607387}" type="pres">
      <dgm:prSet presAssocID="{0E4E0EFE-1A98-431F-AF4C-2CF0B30B9D05}" presName="spaceRect" presStyleCnt="0"/>
      <dgm:spPr/>
    </dgm:pt>
    <dgm:pt modelId="{4D70F2F7-D33C-4EAE-B912-F594413F3E6F}" type="pres">
      <dgm:prSet presAssocID="{0E4E0EFE-1A98-431F-AF4C-2CF0B30B9D05}" presName="textRect" presStyleLbl="revTx" presStyleIdx="3" presStyleCnt="5">
        <dgm:presLayoutVars>
          <dgm:chMax val="1"/>
          <dgm:chPref val="1"/>
        </dgm:presLayoutVars>
      </dgm:prSet>
      <dgm:spPr/>
    </dgm:pt>
    <dgm:pt modelId="{D6C5B4AB-7CBE-4455-AAAB-A0C3F23BC656}" type="pres">
      <dgm:prSet presAssocID="{1B2D87C8-EB57-4F59-A13B-CF67ECD9139F}" presName="sibTrans" presStyleCnt="0"/>
      <dgm:spPr/>
    </dgm:pt>
    <dgm:pt modelId="{E239A738-9A7D-41FE-8E76-A4AA468ADBC3}" type="pres">
      <dgm:prSet presAssocID="{A88AB8A4-DC99-40D2-B293-C80B99BE8C8B}" presName="compNode" presStyleCnt="0"/>
      <dgm:spPr/>
    </dgm:pt>
    <dgm:pt modelId="{D4A0C84D-8529-4CAE-8331-16958DF44010}" type="pres">
      <dgm:prSet presAssocID="{A88AB8A4-DC99-40D2-B293-C80B99BE8C8B}" presName="iconBgRect" presStyleLbl="bgShp" presStyleIdx="4" presStyleCnt="5"/>
      <dgm:spPr/>
    </dgm:pt>
    <dgm:pt modelId="{1E268AC2-E2DF-4CD7-8050-8FE34A0CBF5D}" type="pres">
      <dgm:prSet presAssocID="{A88AB8A4-DC99-40D2-B293-C80B99BE8C8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bajadora de oficina con relleno sólido"/>
        </a:ext>
      </dgm:extLst>
    </dgm:pt>
    <dgm:pt modelId="{D5401D01-539B-40B8-BB6F-573732C5F924}" type="pres">
      <dgm:prSet presAssocID="{A88AB8A4-DC99-40D2-B293-C80B99BE8C8B}" presName="spaceRect" presStyleCnt="0"/>
      <dgm:spPr/>
    </dgm:pt>
    <dgm:pt modelId="{53148753-D968-4002-8AE6-05F6EEE1034C}" type="pres">
      <dgm:prSet presAssocID="{A88AB8A4-DC99-40D2-B293-C80B99BE8C8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5E67707-3312-4CC8-97B9-221E044324F6}" type="presOf" srcId="{04CA15BF-42E7-4AED-A2E2-5321814A3F18}" destId="{0D36FC0D-0165-46CF-A549-00D79C1F95B7}" srcOrd="0" destOrd="0" presId="urn:microsoft.com/office/officeart/2018/5/layout/IconCircleLabelList"/>
    <dgm:cxn modelId="{C99BA212-A0CB-4C46-A5CF-4B3B4FF9F3CA}" type="presOf" srcId="{0E4E0EFE-1A98-431F-AF4C-2CF0B30B9D05}" destId="{4D70F2F7-D33C-4EAE-B912-F594413F3E6F}" srcOrd="0" destOrd="0" presId="urn:microsoft.com/office/officeart/2018/5/layout/IconCircleLabelList"/>
    <dgm:cxn modelId="{66F18913-A3EC-47F6-866E-08F1714CAD48}" srcId="{3049F407-8F96-41C6-B2EF-9A9E48BB311C}" destId="{79D5B9B9-18B4-42D5-9B9F-27F2DF7D1351}" srcOrd="2" destOrd="0" parTransId="{F3DB7BE5-398B-4462-BE06-B3C9AD90EC93}" sibTransId="{FC2AEBF8-C1EF-4AD3-ACD5-46C200FCB445}"/>
    <dgm:cxn modelId="{97E2FF3B-36EC-4079-9532-B263D1A32854}" type="presOf" srcId="{A88AB8A4-DC99-40D2-B293-C80B99BE8C8B}" destId="{53148753-D968-4002-8AE6-05F6EEE1034C}" srcOrd="0" destOrd="0" presId="urn:microsoft.com/office/officeart/2018/5/layout/IconCircleLabelList"/>
    <dgm:cxn modelId="{F70B2C42-F630-4EEF-9592-2BBFA9A74874}" type="presOf" srcId="{3049F407-8F96-41C6-B2EF-9A9E48BB311C}" destId="{01DA637E-F51D-4B07-BFD1-90E233E99286}" srcOrd="0" destOrd="0" presId="urn:microsoft.com/office/officeart/2018/5/layout/IconCircleLabelList"/>
    <dgm:cxn modelId="{51969065-21B9-4566-AA16-B269DE14B5A6}" srcId="{3049F407-8F96-41C6-B2EF-9A9E48BB311C}" destId="{A88AB8A4-DC99-40D2-B293-C80B99BE8C8B}" srcOrd="4" destOrd="0" parTransId="{2B32C269-E408-40A2-BF87-0489C2E80237}" sibTransId="{70761F2E-C352-44F3-A109-020BA7CEFB10}"/>
    <dgm:cxn modelId="{6894916C-0C95-495B-BC85-D0639D5A689C}" srcId="{3049F407-8F96-41C6-B2EF-9A9E48BB311C}" destId="{0E4E0EFE-1A98-431F-AF4C-2CF0B30B9D05}" srcOrd="3" destOrd="0" parTransId="{FAA97931-60AC-428F-A5E5-86E055C61F09}" sibTransId="{1B2D87C8-EB57-4F59-A13B-CF67ECD9139F}"/>
    <dgm:cxn modelId="{9DA3DCB9-9A2F-4A7C-AAF5-37F1CFF9E4A5}" srcId="{3049F407-8F96-41C6-B2EF-9A9E48BB311C}" destId="{04CA15BF-42E7-4AED-A2E2-5321814A3F18}" srcOrd="1" destOrd="0" parTransId="{B2A9A20B-6766-427D-864D-E5E938E37CD7}" sibTransId="{1A05C97D-E458-4649-8385-EB8938D69FF6}"/>
    <dgm:cxn modelId="{4EB9A3CE-036C-48DA-BB0F-4695B2BED8A5}" srcId="{3049F407-8F96-41C6-B2EF-9A9E48BB311C}" destId="{308866A2-9383-40AD-B353-92922CBD9622}" srcOrd="0" destOrd="0" parTransId="{9F9C067C-2FC3-4A24-B266-0C202877F434}" sibTransId="{B8843110-56C2-4812-B9D3-F2A242951B8B}"/>
    <dgm:cxn modelId="{F40250D2-312B-436F-A212-C80CA6E694AD}" type="presOf" srcId="{79D5B9B9-18B4-42D5-9B9F-27F2DF7D1351}" destId="{8CA32564-3C2C-4BF9-B778-F481D4593654}" srcOrd="0" destOrd="0" presId="urn:microsoft.com/office/officeart/2018/5/layout/IconCircleLabelList"/>
    <dgm:cxn modelId="{60FF4ED6-5311-40FD-974E-03EC53A359D6}" type="presOf" srcId="{308866A2-9383-40AD-B353-92922CBD9622}" destId="{02804511-88F8-4C24-9E59-ED772AE70CE6}" srcOrd="0" destOrd="0" presId="urn:microsoft.com/office/officeart/2018/5/layout/IconCircleLabelList"/>
    <dgm:cxn modelId="{709B978C-5392-4569-990C-3089620C6A85}" type="presParOf" srcId="{01DA637E-F51D-4B07-BFD1-90E233E99286}" destId="{29A58196-61E1-42A2-94BC-A0B521048177}" srcOrd="0" destOrd="0" presId="urn:microsoft.com/office/officeart/2018/5/layout/IconCircleLabelList"/>
    <dgm:cxn modelId="{3D7DFF4A-604E-4F84-8A84-F03391E403A0}" type="presParOf" srcId="{29A58196-61E1-42A2-94BC-A0B521048177}" destId="{2AD16590-8642-469E-94A4-ED9B574996EA}" srcOrd="0" destOrd="0" presId="urn:microsoft.com/office/officeart/2018/5/layout/IconCircleLabelList"/>
    <dgm:cxn modelId="{62335F77-77A3-4251-86AF-A2ED7E2A98CA}" type="presParOf" srcId="{29A58196-61E1-42A2-94BC-A0B521048177}" destId="{A5DEA723-1EDA-4032-8D4E-55A41D4439F5}" srcOrd="1" destOrd="0" presId="urn:microsoft.com/office/officeart/2018/5/layout/IconCircleLabelList"/>
    <dgm:cxn modelId="{EC53EDE4-1F0A-4A5E-AE5D-D0B90C47682E}" type="presParOf" srcId="{29A58196-61E1-42A2-94BC-A0B521048177}" destId="{B9C561CC-0666-4D42-88F4-9974B4FA66A2}" srcOrd="2" destOrd="0" presId="urn:microsoft.com/office/officeart/2018/5/layout/IconCircleLabelList"/>
    <dgm:cxn modelId="{D8D70DC3-FC80-49C2-A605-FA9D69702AC7}" type="presParOf" srcId="{29A58196-61E1-42A2-94BC-A0B521048177}" destId="{02804511-88F8-4C24-9E59-ED772AE70CE6}" srcOrd="3" destOrd="0" presId="urn:microsoft.com/office/officeart/2018/5/layout/IconCircleLabelList"/>
    <dgm:cxn modelId="{9EB50A09-F697-41BD-A5CC-B6E1352F0A49}" type="presParOf" srcId="{01DA637E-F51D-4B07-BFD1-90E233E99286}" destId="{A9454926-06CD-4D7A-B996-61374440C577}" srcOrd="1" destOrd="0" presId="urn:microsoft.com/office/officeart/2018/5/layout/IconCircleLabelList"/>
    <dgm:cxn modelId="{19F9C348-8605-48B8-9E39-7D3B0240F368}" type="presParOf" srcId="{01DA637E-F51D-4B07-BFD1-90E233E99286}" destId="{933DCEED-2DF3-4CF3-9597-AF65372BE389}" srcOrd="2" destOrd="0" presId="urn:microsoft.com/office/officeart/2018/5/layout/IconCircleLabelList"/>
    <dgm:cxn modelId="{38993407-3EF5-441B-A270-AF55F615EB3E}" type="presParOf" srcId="{933DCEED-2DF3-4CF3-9597-AF65372BE389}" destId="{2FDE3319-4877-433E-B5CD-44B3FECC21DD}" srcOrd="0" destOrd="0" presId="urn:microsoft.com/office/officeart/2018/5/layout/IconCircleLabelList"/>
    <dgm:cxn modelId="{69628A87-9103-4193-A098-20D050B0A0A8}" type="presParOf" srcId="{933DCEED-2DF3-4CF3-9597-AF65372BE389}" destId="{3F0DEB32-9873-4AE8-B7C3-3D4507649C81}" srcOrd="1" destOrd="0" presId="urn:microsoft.com/office/officeart/2018/5/layout/IconCircleLabelList"/>
    <dgm:cxn modelId="{541DF158-8183-4E51-B3B3-31F368DDF7F1}" type="presParOf" srcId="{933DCEED-2DF3-4CF3-9597-AF65372BE389}" destId="{FBF08355-9EC3-4DA5-87D0-2E1D88587E5B}" srcOrd="2" destOrd="0" presId="urn:microsoft.com/office/officeart/2018/5/layout/IconCircleLabelList"/>
    <dgm:cxn modelId="{43BA75E0-1A2F-413C-BB30-C0082ACDE444}" type="presParOf" srcId="{933DCEED-2DF3-4CF3-9597-AF65372BE389}" destId="{0D36FC0D-0165-46CF-A549-00D79C1F95B7}" srcOrd="3" destOrd="0" presId="urn:microsoft.com/office/officeart/2018/5/layout/IconCircleLabelList"/>
    <dgm:cxn modelId="{6BFB918C-894A-406E-954A-8B62711AB205}" type="presParOf" srcId="{01DA637E-F51D-4B07-BFD1-90E233E99286}" destId="{4AC43ED8-B47A-402A-951E-AD061D612C29}" srcOrd="3" destOrd="0" presId="urn:microsoft.com/office/officeart/2018/5/layout/IconCircleLabelList"/>
    <dgm:cxn modelId="{3D020329-3569-4DE5-82FF-109C38522627}" type="presParOf" srcId="{01DA637E-F51D-4B07-BFD1-90E233E99286}" destId="{D09D2DE4-B039-4339-8418-55C37756671F}" srcOrd="4" destOrd="0" presId="urn:microsoft.com/office/officeart/2018/5/layout/IconCircleLabelList"/>
    <dgm:cxn modelId="{76C4E481-B54D-4625-AF9B-DC9E9E039230}" type="presParOf" srcId="{D09D2DE4-B039-4339-8418-55C37756671F}" destId="{32AEB4C1-67E5-4A59-A59F-9CBA0D90D936}" srcOrd="0" destOrd="0" presId="urn:microsoft.com/office/officeart/2018/5/layout/IconCircleLabelList"/>
    <dgm:cxn modelId="{E62F2DE3-9A82-458E-99C2-949F6D8D15E3}" type="presParOf" srcId="{D09D2DE4-B039-4339-8418-55C37756671F}" destId="{C9A134ED-C377-4437-AB15-BCE36B556063}" srcOrd="1" destOrd="0" presId="urn:microsoft.com/office/officeart/2018/5/layout/IconCircleLabelList"/>
    <dgm:cxn modelId="{03ADCF62-B93A-4BA6-8578-9D188ECB651F}" type="presParOf" srcId="{D09D2DE4-B039-4339-8418-55C37756671F}" destId="{6BD9D8AD-4720-46C7-8D13-B88766A2B0B0}" srcOrd="2" destOrd="0" presId="urn:microsoft.com/office/officeart/2018/5/layout/IconCircleLabelList"/>
    <dgm:cxn modelId="{E17DC892-0A0D-485D-A096-7FD677D90C90}" type="presParOf" srcId="{D09D2DE4-B039-4339-8418-55C37756671F}" destId="{8CA32564-3C2C-4BF9-B778-F481D4593654}" srcOrd="3" destOrd="0" presId="urn:microsoft.com/office/officeart/2018/5/layout/IconCircleLabelList"/>
    <dgm:cxn modelId="{BB5664CC-3833-4AE3-868B-9F60940B03DC}" type="presParOf" srcId="{01DA637E-F51D-4B07-BFD1-90E233E99286}" destId="{2CB316F6-3F6E-4318-9327-49531928AEF1}" srcOrd="5" destOrd="0" presId="urn:microsoft.com/office/officeart/2018/5/layout/IconCircleLabelList"/>
    <dgm:cxn modelId="{AC195C9D-715C-477B-A704-DFF52C4BD035}" type="presParOf" srcId="{01DA637E-F51D-4B07-BFD1-90E233E99286}" destId="{7AD504B1-2A49-4B0F-9A1F-7D439F94B373}" srcOrd="6" destOrd="0" presId="urn:microsoft.com/office/officeart/2018/5/layout/IconCircleLabelList"/>
    <dgm:cxn modelId="{5877F888-13C4-486A-8A36-0D122A68483C}" type="presParOf" srcId="{7AD504B1-2A49-4B0F-9A1F-7D439F94B373}" destId="{0547C263-E96D-49AF-9215-1FF2928043BD}" srcOrd="0" destOrd="0" presId="urn:microsoft.com/office/officeart/2018/5/layout/IconCircleLabelList"/>
    <dgm:cxn modelId="{406B553C-DC37-4E5A-A607-B07B40A1C7BA}" type="presParOf" srcId="{7AD504B1-2A49-4B0F-9A1F-7D439F94B373}" destId="{66D8ADB3-1579-40DA-9BA6-6DE25532DA39}" srcOrd="1" destOrd="0" presId="urn:microsoft.com/office/officeart/2018/5/layout/IconCircleLabelList"/>
    <dgm:cxn modelId="{4EF9F8A6-4CA4-40C4-94E4-35A736D484CE}" type="presParOf" srcId="{7AD504B1-2A49-4B0F-9A1F-7D439F94B373}" destId="{EBFA643E-7416-45D8-84A2-B23C95607387}" srcOrd="2" destOrd="0" presId="urn:microsoft.com/office/officeart/2018/5/layout/IconCircleLabelList"/>
    <dgm:cxn modelId="{3B7F8907-BF31-485B-8A8C-A5A206ED0E8F}" type="presParOf" srcId="{7AD504B1-2A49-4B0F-9A1F-7D439F94B373}" destId="{4D70F2F7-D33C-4EAE-B912-F594413F3E6F}" srcOrd="3" destOrd="0" presId="urn:microsoft.com/office/officeart/2018/5/layout/IconCircleLabelList"/>
    <dgm:cxn modelId="{C134F497-1279-4BC5-84E3-27BED5701E70}" type="presParOf" srcId="{01DA637E-F51D-4B07-BFD1-90E233E99286}" destId="{D6C5B4AB-7CBE-4455-AAAB-A0C3F23BC656}" srcOrd="7" destOrd="0" presId="urn:microsoft.com/office/officeart/2018/5/layout/IconCircleLabelList"/>
    <dgm:cxn modelId="{027B8CD9-E8ED-4D47-A7FC-1E710601150D}" type="presParOf" srcId="{01DA637E-F51D-4B07-BFD1-90E233E99286}" destId="{E239A738-9A7D-41FE-8E76-A4AA468ADBC3}" srcOrd="8" destOrd="0" presId="urn:microsoft.com/office/officeart/2018/5/layout/IconCircleLabelList"/>
    <dgm:cxn modelId="{6A15984C-FF5C-4691-AABA-16BFCCFB564E}" type="presParOf" srcId="{E239A738-9A7D-41FE-8E76-A4AA468ADBC3}" destId="{D4A0C84D-8529-4CAE-8331-16958DF44010}" srcOrd="0" destOrd="0" presId="urn:microsoft.com/office/officeart/2018/5/layout/IconCircleLabelList"/>
    <dgm:cxn modelId="{9509E9BA-FBB9-4DA1-A53E-82ABB96706F7}" type="presParOf" srcId="{E239A738-9A7D-41FE-8E76-A4AA468ADBC3}" destId="{1E268AC2-E2DF-4CD7-8050-8FE34A0CBF5D}" srcOrd="1" destOrd="0" presId="urn:microsoft.com/office/officeart/2018/5/layout/IconCircleLabelList"/>
    <dgm:cxn modelId="{9732B663-F490-4C5A-8120-4F21BA89F524}" type="presParOf" srcId="{E239A738-9A7D-41FE-8E76-A4AA468ADBC3}" destId="{D5401D01-539B-40B8-BB6F-573732C5F924}" srcOrd="2" destOrd="0" presId="urn:microsoft.com/office/officeart/2018/5/layout/IconCircleLabelList"/>
    <dgm:cxn modelId="{683E94AD-EEE5-4AA3-9375-2D16978B01AC}" type="presParOf" srcId="{E239A738-9A7D-41FE-8E76-A4AA468ADBC3}" destId="{53148753-D968-4002-8AE6-05F6EEE103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16590-8642-469E-94A4-ED9B574996EA}">
      <dsp:nvSpPr>
        <dsp:cNvPr id="0" name=""/>
        <dsp:cNvSpPr/>
      </dsp:nvSpPr>
      <dsp:spPr>
        <a:xfrm>
          <a:off x="745500" y="49907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EA723-1EDA-4032-8D4E-55A41D4439F5}">
      <dsp:nvSpPr>
        <dsp:cNvPr id="0" name=""/>
        <dsp:cNvSpPr/>
      </dsp:nvSpPr>
      <dsp:spPr>
        <a:xfrm>
          <a:off x="979500" y="73307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04511-88F8-4C24-9E59-ED772AE70CE6}">
      <dsp:nvSpPr>
        <dsp:cNvPr id="0" name=""/>
        <dsp:cNvSpPr/>
      </dsp:nvSpPr>
      <dsp:spPr>
        <a:xfrm>
          <a:off x="394500" y="1939071"/>
          <a:ext cx="1800000" cy="20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000" kern="1200" cap="none" dirty="0"/>
            <a:t>Baja ocupación en días específicos como miércoles, jueves y viernes.</a:t>
          </a:r>
        </a:p>
      </dsp:txBody>
      <dsp:txXfrm>
        <a:off x="394500" y="1939071"/>
        <a:ext cx="1800000" cy="2025000"/>
      </dsp:txXfrm>
    </dsp:sp>
    <dsp:sp modelId="{2FDE3319-4877-433E-B5CD-44B3FECC21DD}">
      <dsp:nvSpPr>
        <dsp:cNvPr id="0" name=""/>
        <dsp:cNvSpPr/>
      </dsp:nvSpPr>
      <dsp:spPr>
        <a:xfrm>
          <a:off x="2860500" y="49907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DEB32-9873-4AE8-B7C3-3D4507649C81}">
      <dsp:nvSpPr>
        <dsp:cNvPr id="0" name=""/>
        <dsp:cNvSpPr/>
      </dsp:nvSpPr>
      <dsp:spPr>
        <a:xfrm>
          <a:off x="3094500" y="73307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6FC0D-0165-46CF-A549-00D79C1F95B7}">
      <dsp:nvSpPr>
        <dsp:cNvPr id="0" name=""/>
        <dsp:cNvSpPr/>
      </dsp:nvSpPr>
      <dsp:spPr>
        <a:xfrm>
          <a:off x="2509500" y="1939071"/>
          <a:ext cx="1800000" cy="20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000" kern="1200" cap="none" dirty="0"/>
            <a:t>Los procedimientos y productos se ofrecen de forma individual.</a:t>
          </a:r>
        </a:p>
      </dsp:txBody>
      <dsp:txXfrm>
        <a:off x="2509500" y="1939071"/>
        <a:ext cx="1800000" cy="2025000"/>
      </dsp:txXfrm>
    </dsp:sp>
    <dsp:sp modelId="{32AEB4C1-67E5-4A59-A59F-9CBA0D90D936}">
      <dsp:nvSpPr>
        <dsp:cNvPr id="0" name=""/>
        <dsp:cNvSpPr/>
      </dsp:nvSpPr>
      <dsp:spPr>
        <a:xfrm>
          <a:off x="4975500" y="49907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134ED-C377-4437-AB15-BCE36B556063}">
      <dsp:nvSpPr>
        <dsp:cNvPr id="0" name=""/>
        <dsp:cNvSpPr/>
      </dsp:nvSpPr>
      <dsp:spPr>
        <a:xfrm>
          <a:off x="5209500" y="73307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32564-3C2C-4BF9-B778-F481D4593654}">
      <dsp:nvSpPr>
        <dsp:cNvPr id="0" name=""/>
        <dsp:cNvSpPr/>
      </dsp:nvSpPr>
      <dsp:spPr>
        <a:xfrm>
          <a:off x="4624500" y="1939071"/>
          <a:ext cx="1800000" cy="20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000" kern="1200" cap="none" dirty="0"/>
            <a:t>Baja participación en la venta de productos en comparación con los servicios.</a:t>
          </a:r>
        </a:p>
      </dsp:txBody>
      <dsp:txXfrm>
        <a:off x="4624500" y="1939071"/>
        <a:ext cx="1800000" cy="2025000"/>
      </dsp:txXfrm>
    </dsp:sp>
    <dsp:sp modelId="{0547C263-E96D-49AF-9215-1FF2928043BD}">
      <dsp:nvSpPr>
        <dsp:cNvPr id="0" name=""/>
        <dsp:cNvSpPr/>
      </dsp:nvSpPr>
      <dsp:spPr>
        <a:xfrm>
          <a:off x="7090500" y="49907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8ADB3-1579-40DA-9BA6-6DE25532DA39}">
      <dsp:nvSpPr>
        <dsp:cNvPr id="0" name=""/>
        <dsp:cNvSpPr/>
      </dsp:nvSpPr>
      <dsp:spPr>
        <a:xfrm>
          <a:off x="7324500" y="73307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0F2F7-D33C-4EAE-B912-F594413F3E6F}">
      <dsp:nvSpPr>
        <dsp:cNvPr id="0" name=""/>
        <dsp:cNvSpPr/>
      </dsp:nvSpPr>
      <dsp:spPr>
        <a:xfrm>
          <a:off x="6739500" y="1939071"/>
          <a:ext cx="1800000" cy="20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000" kern="1200" cap="none" dirty="0"/>
            <a:t>No evidenciamos un programa de fidelización estructurado.</a:t>
          </a:r>
        </a:p>
      </dsp:txBody>
      <dsp:txXfrm>
        <a:off x="6739500" y="1939071"/>
        <a:ext cx="1800000" cy="2025000"/>
      </dsp:txXfrm>
    </dsp:sp>
    <dsp:sp modelId="{D4A0C84D-8529-4CAE-8331-16958DF44010}">
      <dsp:nvSpPr>
        <dsp:cNvPr id="0" name=""/>
        <dsp:cNvSpPr/>
      </dsp:nvSpPr>
      <dsp:spPr>
        <a:xfrm>
          <a:off x="9205500" y="49907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68AC2-E2DF-4CD7-8050-8FE34A0CBF5D}">
      <dsp:nvSpPr>
        <dsp:cNvPr id="0" name=""/>
        <dsp:cNvSpPr/>
      </dsp:nvSpPr>
      <dsp:spPr>
        <a:xfrm>
          <a:off x="9439500" y="73307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48753-D968-4002-8AE6-05F6EEE1034C}">
      <dsp:nvSpPr>
        <dsp:cNvPr id="0" name=""/>
        <dsp:cNvSpPr/>
      </dsp:nvSpPr>
      <dsp:spPr>
        <a:xfrm>
          <a:off x="8854500" y="1939071"/>
          <a:ext cx="1800000" cy="20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000" kern="1200" cap="none" dirty="0"/>
            <a:t>Detección de diferencias en el rendimiento entre especialistas.</a:t>
          </a:r>
        </a:p>
      </dsp:txBody>
      <dsp:txXfrm>
        <a:off x="8854500" y="1939071"/>
        <a:ext cx="1800000" cy="202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61DFE-1B72-43A0-A19B-E111F66AE682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58EBC-1F95-4CD2-BDBA-316D6706EB3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884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58EBC-1F95-4CD2-BDBA-316D6706EB3E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430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823934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9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80249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48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02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9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0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752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283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378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91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963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3.wdp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hyperlink" Target="file:///C:\Users\USUARIO\Desktop\linkedin.com\in\julianahiguita" TargetMode="External"/><Relationship Id="rId3" Type="http://schemas.openxmlformats.org/officeDocument/2006/relationships/hyperlink" Target="https://github.com/jonathanUpeguiRestrepoDataAnalist/Betek_Centro_Estetico" TargetMode="External"/><Relationship Id="rId7" Type="http://schemas.openxmlformats.org/officeDocument/2006/relationships/hyperlink" Target="mailto:jupeguir@gmail.com" TargetMode="External"/><Relationship Id="rId12" Type="http://schemas.openxmlformats.org/officeDocument/2006/relationships/hyperlink" Target="mailto:morenohernandezkiaramargarita@gmail.com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jonathan-upegui-restrepo-analista-datos/" TargetMode="External"/><Relationship Id="rId11" Type="http://schemas.openxmlformats.org/officeDocument/2006/relationships/hyperlink" Target="https://www.linkedin.com/in/kiara-moreno-5648a1397/" TargetMode="External"/><Relationship Id="rId5" Type="http://schemas.openxmlformats.org/officeDocument/2006/relationships/image" Target="../media/image4.png"/><Relationship Id="rId15" Type="http://schemas.openxmlformats.org/officeDocument/2006/relationships/image" Target="../media/image3.jpeg"/><Relationship Id="rId10" Type="http://schemas.openxmlformats.org/officeDocument/2006/relationships/image" Target="../media/image36.png"/><Relationship Id="rId4" Type="http://schemas.openxmlformats.org/officeDocument/2006/relationships/image" Target="../media/image5.jpeg"/><Relationship Id="rId9" Type="http://schemas.openxmlformats.org/officeDocument/2006/relationships/image" Target="../media/image35.png"/><Relationship Id="rId14" Type="http://schemas.openxmlformats.org/officeDocument/2006/relationships/hyperlink" Target="mailto:juliana-higuita1017@hot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25469-3C5F-94C4-3A4D-203F55D9E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1133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70A407-7D85-E15D-BD03-C89809C19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0" b="97030" l="596" r="99285">
                        <a14:foregroundMark x1="45888" y1="27393" x2="93683" y2="29373"/>
                        <a14:foregroundMark x1="36710" y1="33663" x2="70322" y2="34983"/>
                        <a14:foregroundMark x1="70322" y1="34983" x2="75805" y2="33993"/>
                        <a14:foregroundMark x1="37306" y1="58416" x2="62098" y2="54785"/>
                        <a14:foregroundMark x1="62098" y1="54785" x2="84148" y2="55116"/>
                        <a14:foregroundMark x1="84148" y1="55116" x2="88677" y2="52805"/>
                        <a14:foregroundMark x1="37783" y1="75578" x2="61740" y2="75908"/>
                        <a14:foregroundMark x1="61740" y1="75908" x2="87843" y2="71287"/>
                        <a14:foregroundMark x1="12277" y1="81848" x2="6436" y2="42904"/>
                        <a14:foregroundMark x1="6436" y1="42904" x2="8939" y2="25413"/>
                        <a14:foregroundMark x1="8939" y1="25413" x2="22089" y2="9667"/>
                        <a14:foregroundMark x1="22232" y1="9661" x2="27771" y2="17492"/>
                        <a14:foregroundMark x1="27771" y1="17492" x2="32539" y2="47525"/>
                        <a14:foregroundMark x1="32539" y1="47525" x2="30989" y2="70297"/>
                        <a14:foregroundMark x1="30989" y1="70297" x2="14422" y2="85479"/>
                        <a14:foregroundMark x1="14422" y1="85479" x2="11800" y2="79868"/>
                        <a14:foregroundMark x1="18474" y1="9901" x2="10250" y2="19142"/>
                        <a14:foregroundMark x1="10250" y1="19142" x2="6079" y2="38284"/>
                        <a14:foregroundMark x1="6079" y1="38284" x2="7032" y2="75578"/>
                        <a14:foregroundMark x1="31585" y1="67657" x2="33015" y2="47525"/>
                        <a14:foregroundMark x1="33015" y1="47525" x2="31108" y2="29043"/>
                        <a14:foregroundMark x1="31108" y1="29043" x2="26103" y2="13201"/>
                        <a14:foregroundMark x1="26103" y1="13201" x2="18117" y2="12211"/>
                        <a14:foregroundMark x1="18117" y1="12211" x2="10012" y2="17162"/>
                        <a14:foregroundMark x1="10012" y1="17162" x2="5006" y2="31023"/>
                        <a14:foregroundMark x1="5006" y1="31023" x2="4410" y2="38944"/>
                        <a14:foregroundMark x1="76758" y1="23762" x2="76758" y2="23762"/>
                        <a14:foregroundMark x1="82479" y1="22772" x2="82479" y2="22772"/>
                        <a14:foregroundMark x1="2265" y1="4620" x2="47199" y2="14851"/>
                        <a14:foregroundMark x1="47199" y1="14851" x2="67700" y2="10561"/>
                        <a14:foregroundMark x1="67700" y1="10561" x2="93683" y2="12541"/>
                        <a14:foregroundMark x1="93683" y1="12541" x2="97974" y2="34653"/>
                        <a14:foregroundMark x1="97974" y1="34653" x2="98808" y2="54125"/>
                        <a14:foregroundMark x1="98808" y1="54125" x2="96186" y2="84818"/>
                        <a14:foregroundMark x1="96186" y1="84818" x2="86532" y2="92739"/>
                        <a14:foregroundMark x1="86532" y1="92739" x2="5721" y2="88449"/>
                        <a14:foregroundMark x1="5721" y1="88449" x2="596" y2="65017"/>
                        <a14:foregroundMark x1="596" y1="65017" x2="834" y2="28383"/>
                        <a14:foregroundMark x1="834" y1="28383" x2="4291" y2="6271"/>
                        <a14:foregroundMark x1="25626" y1="990" x2="52086" y2="7261"/>
                        <a14:foregroundMark x1="98808" y1="7591" x2="98451" y2="58746"/>
                        <a14:foregroundMark x1="98451" y1="58746" x2="96544" y2="77228"/>
                        <a14:foregroundMark x1="96544" y1="77228" x2="82360" y2="95710"/>
                        <a14:foregroundMark x1="82360" y1="95710" x2="1788" y2="97030"/>
                        <a14:foregroundMark x1="97974" y1="95050" x2="99285" y2="330"/>
                        <a14:foregroundMark x1="25387" y1="2970" x2="24195" y2="29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722" y="1653875"/>
            <a:ext cx="9830556" cy="355024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29809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9D9D0AB-1E2F-44A8-B9C6-FA4098301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9CDB92-3CF4-82E8-9F6E-03E64E4B2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5" y="3273013"/>
            <a:ext cx="5101019" cy="892052"/>
          </a:xfrm>
        </p:spPr>
        <p:txBody>
          <a:bodyPr anchor="ctr">
            <a:normAutofit/>
          </a:bodyPr>
          <a:lstStyle/>
          <a:p>
            <a:pPr algn="ctr"/>
            <a:r>
              <a:rPr lang="es-ES" sz="3600" dirty="0"/>
              <a:t>Ponentes</a:t>
            </a:r>
            <a:endParaRPr lang="es-CO" sz="3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7F0E3F-A27E-B108-FBDF-89C3733DB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2" r="-1" b="37407"/>
          <a:stretch>
            <a:fillRect/>
          </a:stretch>
        </p:blipFill>
        <p:spPr>
          <a:xfrm>
            <a:off x="5" y="824734"/>
            <a:ext cx="3664827" cy="236750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CCC9FC1-68AD-40AD-85B6-A0E7053D6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791963" y="451044"/>
            <a:ext cx="2308583" cy="274119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89C5EF-BAD9-5B36-7B38-3A6F3A72F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4" r="3" b="41198"/>
          <a:stretch>
            <a:fillRect/>
          </a:stretch>
        </p:blipFill>
        <p:spPr>
          <a:xfrm>
            <a:off x="4278086" y="56287"/>
            <a:ext cx="4042636" cy="3192239"/>
          </a:xfrm>
          <a:prstGeom prst="rect">
            <a:avLst/>
          </a:prstGeom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2FC6D069-79BF-50AC-58AB-3B20350FD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57" y="3819781"/>
            <a:ext cx="7146950" cy="89205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b="1" dirty="0"/>
              <a:t>Kiara Moreno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dirty="0"/>
              <a:t>Asistente Administrativa | Analista de Datos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13CB36-7B4A-7B2A-E2EE-4227488DAF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9" r="15261" b="1"/>
          <a:stretch>
            <a:fillRect/>
          </a:stretch>
        </p:blipFill>
        <p:spPr>
          <a:xfrm>
            <a:off x="8942136" y="824734"/>
            <a:ext cx="3249864" cy="472697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B27A04-CA20-4DE3-83CB-6ED66E5E7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85429" y="3248526"/>
            <a:ext cx="2308583" cy="274119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8968742-1D40-4F6B-9272-064FD163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0486" y="6453386"/>
            <a:ext cx="573314" cy="4046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D3C836D1-02E9-8427-7125-76700414B9AC}"/>
              </a:ext>
            </a:extLst>
          </p:cNvPr>
          <p:cNvSpPr txBox="1">
            <a:spLocks/>
          </p:cNvSpPr>
          <p:nvPr/>
        </p:nvSpPr>
        <p:spPr>
          <a:xfrm>
            <a:off x="870917" y="4786585"/>
            <a:ext cx="7146950" cy="892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s-ES" b="1" dirty="0"/>
              <a:t>Jonathan Upegui</a:t>
            </a:r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s-ES" dirty="0"/>
              <a:t>Auxiliar Aduanas | Analista de Datos</a:t>
            </a:r>
            <a:endParaRPr lang="es-CO" dirty="0"/>
          </a:p>
        </p:txBody>
      </p:sp>
      <p:sp>
        <p:nvSpPr>
          <p:cNvPr id="12" name="Marcador de contenido 9">
            <a:extLst>
              <a:ext uri="{FF2B5EF4-FFF2-40B4-BE49-F238E27FC236}">
                <a16:creationId xmlns:a16="http://schemas.microsoft.com/office/drawing/2014/main" id="{F4FC3525-B0AA-40FD-7A11-E05FB69E8E36}"/>
              </a:ext>
            </a:extLst>
          </p:cNvPr>
          <p:cNvSpPr txBox="1">
            <a:spLocks/>
          </p:cNvSpPr>
          <p:nvPr/>
        </p:nvSpPr>
        <p:spPr>
          <a:xfrm>
            <a:off x="2638655" y="5753389"/>
            <a:ext cx="7146950" cy="892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s-ES" b="1" dirty="0"/>
              <a:t>Juliana Higuita</a:t>
            </a:r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s-ES" dirty="0"/>
              <a:t>Administradora de Empresas | Analista de Datos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2070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5E016-4CFE-E619-C332-EB7F483F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0"/>
            <a:ext cx="4223657" cy="696097"/>
          </a:xfrm>
        </p:spPr>
        <p:txBody>
          <a:bodyPr vert="horz">
            <a:normAutofit/>
          </a:bodyPr>
          <a:lstStyle/>
          <a:p>
            <a:r>
              <a:rPr lang="es-ES" sz="4000" dirty="0">
                <a:solidFill>
                  <a:schemeClr val="tx2"/>
                </a:solidFill>
              </a:rPr>
              <a:t>Modelo Relacional</a:t>
            </a:r>
            <a:endParaRPr lang="es-CO" sz="4000" dirty="0">
              <a:solidFill>
                <a:schemeClr val="tx2"/>
              </a:solidFill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EA9C5F6-3FF6-EC28-1BA0-D8625152B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682716"/>
            <a:ext cx="994871" cy="105052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3168815-9AD5-F878-CBE3-D28F0A447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710" y="597910"/>
            <a:ext cx="8291204" cy="614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29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0AD0F-65F9-183A-F4AC-C808303B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8" y="137183"/>
            <a:ext cx="9601200" cy="722399"/>
          </a:xfrm>
        </p:spPr>
        <p:txBody>
          <a:bodyPr/>
          <a:lstStyle/>
          <a:p>
            <a:r>
              <a:rPr lang="es-ES" sz="4000" dirty="0"/>
              <a:t>Creación</a:t>
            </a:r>
            <a:r>
              <a:rPr lang="es-ES" dirty="0"/>
              <a:t> de Base de Datos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B25B8E-E79B-AB86-A517-0632F24A5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87" y="859582"/>
            <a:ext cx="3368444" cy="58612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10C4D9B-DF68-BE5F-19E2-9F16D182B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39" y="1370855"/>
            <a:ext cx="6939119" cy="51279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361BB5-927E-BFAD-B96C-7614FF50EE3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174" y="69508"/>
            <a:ext cx="2302447" cy="12336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972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755BD-FD20-BAF4-B581-E6E90BBD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56" y="211896"/>
            <a:ext cx="4898571" cy="881743"/>
          </a:xfrm>
        </p:spPr>
        <p:txBody>
          <a:bodyPr>
            <a:normAutofit/>
          </a:bodyPr>
          <a:lstStyle/>
          <a:p>
            <a:r>
              <a:rPr lang="es-ES" sz="4000" dirty="0"/>
              <a:t>Población de Datos</a:t>
            </a:r>
            <a:endParaRPr lang="es-CO" sz="40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17D64F8-543D-A747-D7DE-87F7A28DA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94" y="968829"/>
            <a:ext cx="5026482" cy="56772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5094CC-FDDE-CF67-533B-FD1E227C3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756" y="968829"/>
            <a:ext cx="4502387" cy="25139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3FDC46-D6A0-6191-D0F2-F05286102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09" b="89320" l="7885" r="89964">
                        <a14:foregroundMark x1="9677" y1="42718" x2="9677" y2="42718"/>
                        <a14:foregroundMark x1="7885" y1="54369" x2="15771" y2="35922"/>
                        <a14:foregroundMark x1="32258" y1="52427" x2="54122" y2="48544"/>
                        <a14:foregroundMark x1="54122" y1="48544" x2="86380" y2="50485"/>
                        <a14:foregroundMark x1="86380" y1="50485" x2="89247" y2="49515"/>
                        <a14:foregroundMark x1="31183" y1="69903" x2="51613" y2="63107"/>
                        <a14:foregroundMark x1="47312" y1="80583" x2="47312" y2="80583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838" y="50022"/>
            <a:ext cx="2657846" cy="98121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CAB2474-06AF-280A-48F5-7366EC4E76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39" y="2180052"/>
            <a:ext cx="4734190" cy="325482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05B4EFE-2FE3-FF8A-8D85-82B2C77B1D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923" y="4480366"/>
            <a:ext cx="4071220" cy="232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500303-A207-4812-BEB9-51E132FEB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10118C91-C025-4776-BE95-E9926378E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39174D0-30E8-4BBF-BF81-5DDAC33C0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BB74091-09FE-44AF-8325-7FE6E175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1C3211-E195-29FC-30A9-5DF7D114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0" y="4921627"/>
            <a:ext cx="10720685" cy="9367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cap="all"/>
              <a:t>Análisis de Datos - Dashboard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B1568E0-919A-EDD5-B131-4C11D9828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82" y="193911"/>
            <a:ext cx="7614968" cy="40168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7D0657-D795-C189-E3F7-952545744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479" y="1563780"/>
            <a:ext cx="3709978" cy="936769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F30CCEB-94C4-4F72-BA5A-9CEA85302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434936" y="4446551"/>
            <a:ext cx="1957171" cy="1103687"/>
          </a:xfrm>
          <a:custGeom>
            <a:avLst/>
            <a:gdLst>
              <a:gd name="connsiteX0" fmla="*/ 2017702 w 2017702"/>
              <a:gd name="connsiteY0" fmla="*/ 1137821 h 1137821"/>
              <a:gd name="connsiteX1" fmla="*/ 404 w 2017702"/>
              <a:gd name="connsiteY1" fmla="*/ 1137821 h 1137821"/>
              <a:gd name="connsiteX2" fmla="*/ 0 w 2017702"/>
              <a:gd name="connsiteY2" fmla="*/ 900216 h 1137821"/>
              <a:gd name="connsiteX3" fmla="*/ 1767759 w 2017702"/>
              <a:gd name="connsiteY3" fmla="*/ 901031 h 1137821"/>
              <a:gd name="connsiteX4" fmla="*/ 1767759 w 2017702"/>
              <a:gd name="connsiteY4" fmla="*/ 0 h 1137821"/>
              <a:gd name="connsiteX5" fmla="*/ 2017702 w 2017702"/>
              <a:gd name="connsiteY5" fmla="*/ 0 h 113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7702" h="1137821">
                <a:moveTo>
                  <a:pt x="2017702" y="1137821"/>
                </a:moveTo>
                <a:lnTo>
                  <a:pt x="404" y="1137821"/>
                </a:lnTo>
                <a:cubicBezTo>
                  <a:pt x="-404" y="1055814"/>
                  <a:pt x="807" y="982224"/>
                  <a:pt x="0" y="900216"/>
                </a:cubicBezTo>
                <a:lnTo>
                  <a:pt x="1767759" y="901031"/>
                </a:lnTo>
                <a:lnTo>
                  <a:pt x="1767759" y="0"/>
                </a:lnTo>
                <a:lnTo>
                  <a:pt x="2017702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E1A94F-CC8B-4954-97A7-ADD4F300D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796837" y="5311230"/>
            <a:ext cx="2042265" cy="1213486"/>
          </a:xfrm>
          <a:custGeom>
            <a:avLst/>
            <a:gdLst>
              <a:gd name="connsiteX0" fmla="*/ 1844618 w 2105428"/>
              <a:gd name="connsiteY0" fmla="*/ 0 h 1251016"/>
              <a:gd name="connsiteX1" fmla="*/ 2105428 w 2105428"/>
              <a:gd name="connsiteY1" fmla="*/ 0 h 1251016"/>
              <a:gd name="connsiteX2" fmla="*/ 2105428 w 2105428"/>
              <a:gd name="connsiteY2" fmla="*/ 1251016 h 1251016"/>
              <a:gd name="connsiteX3" fmla="*/ 421 w 2105428"/>
              <a:gd name="connsiteY3" fmla="*/ 1251016 h 1251016"/>
              <a:gd name="connsiteX4" fmla="*/ 0 w 2105428"/>
              <a:gd name="connsiteY4" fmla="*/ 1003081 h 1251016"/>
              <a:gd name="connsiteX5" fmla="*/ 1844618 w 2105428"/>
              <a:gd name="connsiteY5" fmla="*/ 1003931 h 125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5428" h="1251016">
                <a:moveTo>
                  <a:pt x="1844618" y="0"/>
                </a:moveTo>
                <a:lnTo>
                  <a:pt x="2105428" y="0"/>
                </a:lnTo>
                <a:lnTo>
                  <a:pt x="2105428" y="1251016"/>
                </a:lnTo>
                <a:lnTo>
                  <a:pt x="421" y="1251016"/>
                </a:lnTo>
                <a:cubicBezTo>
                  <a:pt x="-421" y="1165443"/>
                  <a:pt x="842" y="1088654"/>
                  <a:pt x="0" y="1003081"/>
                </a:cubicBezTo>
                <a:lnTo>
                  <a:pt x="1844618" y="1003931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778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B25A9364-CB92-AC7A-275F-64116718D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1" r="1" b="1"/>
          <a:stretch>
            <a:fillRect/>
          </a:stretch>
        </p:blipFill>
        <p:spPr>
          <a:xfrm>
            <a:off x="745611" y="480515"/>
            <a:ext cx="10700777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72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6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42" name="Rectangle 28">
            <a:extLst>
              <a:ext uri="{FF2B5EF4-FFF2-40B4-BE49-F238E27FC236}">
                <a16:creationId xmlns:a16="http://schemas.microsoft.com/office/drawing/2014/main" id="{E0FDBC02-48C1-48B7-BF61-2D10CC72F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0">
            <a:extLst>
              <a:ext uri="{FF2B5EF4-FFF2-40B4-BE49-F238E27FC236}">
                <a16:creationId xmlns:a16="http://schemas.microsoft.com/office/drawing/2014/main" id="{4462AAD0-42E1-4737-9C88-868AC0C1D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32">
            <a:extLst>
              <a:ext uri="{FF2B5EF4-FFF2-40B4-BE49-F238E27FC236}">
                <a16:creationId xmlns:a16="http://schemas.microsoft.com/office/drawing/2014/main" id="{B8A582B3-A3B3-49D5-BBF0-98FEA4C2F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EE143F64-D44C-4123-A2E1-FEC1C3F30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36">
            <a:extLst>
              <a:ext uri="{FF2B5EF4-FFF2-40B4-BE49-F238E27FC236}">
                <a16:creationId xmlns:a16="http://schemas.microsoft.com/office/drawing/2014/main" id="{17DB13B9-D0D4-4393-AFAB-2B39448B2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8ECEE89-1567-D679-ECB9-2449879D8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1" y="134845"/>
            <a:ext cx="11761278" cy="65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3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79084-E805-48DA-8EAC-CD5FD493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6078BDE-3876-8C2A-E5D8-77F8C2D9C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5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1A2F181-B494-14A9-FC94-4F165D653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3"/>
          <a:stretch>
            <a:fillRect/>
          </a:stretch>
        </p:blipFill>
        <p:spPr>
          <a:xfrm>
            <a:off x="-1" y="10"/>
            <a:ext cx="1218865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C19665-C5B7-2DDE-58ED-6B58347B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055914"/>
            <a:ext cx="4138323" cy="914399"/>
          </a:xfrm>
        </p:spPr>
        <p:txBody>
          <a:bodyPr>
            <a:normAutofit/>
          </a:bodyPr>
          <a:lstStyle/>
          <a:p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EAA586A-1794-39E8-03B7-F3E38F9DB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953744"/>
              </p:ext>
            </p:extLst>
          </p:nvPr>
        </p:nvGraphicFramePr>
        <p:xfrm>
          <a:off x="892630" y="1970314"/>
          <a:ext cx="11049000" cy="4463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1326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4CE1E30-89F0-1F1B-AAF1-828B1F8DD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6" r="2" b="9535"/>
          <a:stretch>
            <a:fillRect/>
          </a:stretch>
        </p:blipFill>
        <p:spPr>
          <a:xfrm>
            <a:off x="-1" y="10"/>
            <a:ext cx="1218865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598E61-B241-0BED-7367-A4FAF93C9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s-ES" dirty="0"/>
              <a:t>Estrategias</a:t>
            </a:r>
            <a:endParaRPr lang="es-CO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79E4EC0E-EC80-D1FA-D6DB-EA8B2092A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71" y="1638300"/>
            <a:ext cx="10701533" cy="4533900"/>
          </a:xfrm>
        </p:spPr>
        <p:txBody>
          <a:bodyPr>
            <a:noAutofit/>
          </a:bodyPr>
          <a:lstStyle/>
          <a:p>
            <a:pPr lvl="0"/>
            <a:r>
              <a:rPr lang="es-CO" sz="2400" dirty="0">
                <a:solidFill>
                  <a:schemeClr val="tx1"/>
                </a:solidFill>
              </a:rPr>
              <a:t>Implementar promociones en los días de baja ocupación, como descuentos, 2x1 en servicios específicos, paquetes especiales y horas felices con tarifas reducidas.</a:t>
            </a:r>
          </a:p>
          <a:p>
            <a:pPr lvl="0"/>
            <a:r>
              <a:rPr lang="es-CO" sz="2400" dirty="0">
                <a:solidFill>
                  <a:schemeClr val="tx1"/>
                </a:solidFill>
              </a:rPr>
              <a:t>Crear paquetes personalizados como cuidado facial, relajación, bienestar integral, combos producto + tratamiento.</a:t>
            </a:r>
          </a:p>
          <a:p>
            <a:pPr lvl="0"/>
            <a:r>
              <a:rPr lang="es-CO" sz="2400" dirty="0">
                <a:solidFill>
                  <a:schemeClr val="tx1"/>
                </a:solidFill>
              </a:rPr>
              <a:t>Implementar kits de bienvenida para clientes nuevos, permitiéndoles conocer y probar los productos del centro estético.</a:t>
            </a:r>
          </a:p>
          <a:p>
            <a:pPr lvl="0"/>
            <a:r>
              <a:rPr lang="es-CO" sz="2400" dirty="0">
                <a:solidFill>
                  <a:schemeClr val="tx1"/>
                </a:solidFill>
              </a:rPr>
              <a:t>Programa de fidelización con bonos por frecuencia, acumulación de puntos, beneficios exclusivos por tratamientos completos.</a:t>
            </a:r>
          </a:p>
          <a:p>
            <a:r>
              <a:rPr lang="es-CO" sz="2400" dirty="0">
                <a:solidFill>
                  <a:schemeClr val="tx1"/>
                </a:solidFill>
              </a:rPr>
              <a:t>Redistribución de citas entre los especialistas aptos, capacitaciones específicas y esquemas de incentivos por desempeño.</a:t>
            </a:r>
          </a:p>
        </p:txBody>
      </p:sp>
    </p:spTree>
    <p:extLst>
      <p:ext uri="{BB962C8B-B14F-4D97-AF65-F5344CB8AC3E}">
        <p14:creationId xmlns:p14="http://schemas.microsoft.com/office/powerpoint/2010/main" val="334198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8C4E837-E27A-F63A-3D5A-7CB12BC66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97" y="23398"/>
            <a:ext cx="5105445" cy="1901778"/>
          </a:xfrm>
          <a:prstGeom prst="rect">
            <a:avLst/>
          </a:prstGeom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6ADB00-7398-E855-A690-836E03B21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397" y="1774282"/>
            <a:ext cx="10623276" cy="707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Enlace repositorio: </a:t>
            </a:r>
            <a:r>
              <a:rPr lang="es-CO" dirty="0">
                <a:hlinkClick r:id="rId3"/>
              </a:rPr>
              <a:t>https://github.com/jonathanUpeguiRestrepoDataAnalist/Betek_Centro_Estetico</a:t>
            </a:r>
            <a:endParaRPr lang="es-CO" dirty="0"/>
          </a:p>
          <a:p>
            <a:pPr marL="0" indent="0">
              <a:buNone/>
            </a:pPr>
            <a:endParaRPr lang="es-CO" dirty="0"/>
          </a:p>
          <a:p>
            <a:endParaRPr lang="en-US" sz="1800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4BA2D83F-4AD4-621B-A8F2-5ABF9D29736D}"/>
              </a:ext>
            </a:extLst>
          </p:cNvPr>
          <p:cNvSpPr txBox="1">
            <a:spLocks/>
          </p:cNvSpPr>
          <p:nvPr/>
        </p:nvSpPr>
        <p:spPr>
          <a:xfrm>
            <a:off x="909087" y="4710292"/>
            <a:ext cx="2132419" cy="707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79CFA321-FC49-418F-F32D-2312738117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11" y="2633825"/>
            <a:ext cx="2430408" cy="2430408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3AC441E-67BF-FCCA-E490-BE2B9D912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569029"/>
            <a:ext cx="1861457" cy="2544101"/>
          </a:xfrm>
          <a:prstGeom prst="rect">
            <a:avLst/>
          </a:prstGeom>
        </p:spPr>
      </p:pic>
      <p:grpSp>
        <p:nvGrpSpPr>
          <p:cNvPr id="1040" name="Grupo 1039">
            <a:extLst>
              <a:ext uri="{FF2B5EF4-FFF2-40B4-BE49-F238E27FC236}">
                <a16:creationId xmlns:a16="http://schemas.microsoft.com/office/drawing/2014/main" id="{69C9328E-43B0-DF56-E000-7784C9B253B7}"/>
              </a:ext>
            </a:extLst>
          </p:cNvPr>
          <p:cNvGrpSpPr/>
          <p:nvPr/>
        </p:nvGrpSpPr>
        <p:grpSpPr>
          <a:xfrm>
            <a:off x="647478" y="5170714"/>
            <a:ext cx="4357751" cy="1200329"/>
            <a:chOff x="647478" y="5170714"/>
            <a:chExt cx="4357751" cy="1200329"/>
          </a:xfrm>
        </p:grpSpPr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37E9EC31-883F-5A23-0E37-8ED02DB44A24}"/>
                </a:ext>
              </a:extLst>
            </p:cNvPr>
            <p:cNvSpPr txBox="1"/>
            <p:nvPr/>
          </p:nvSpPr>
          <p:spPr>
            <a:xfrm>
              <a:off x="706695" y="5170714"/>
              <a:ext cx="429853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Jonathan Upegui Restrepo</a:t>
              </a:r>
            </a:p>
            <a:p>
              <a:r>
                <a:rPr lang="es-CO" u="sng" dirty="0">
                  <a:hlinkClick r:id="rId6"/>
                </a:rPr>
                <a:t>  linkedin.com/in/</a:t>
              </a:r>
              <a:r>
                <a:rPr lang="es-CO" u="sng" dirty="0" err="1">
                  <a:hlinkClick r:id="rId6"/>
                </a:rPr>
                <a:t>jonathanupeguirestrepo</a:t>
              </a:r>
              <a:endParaRPr lang="es-CO" u="sng" dirty="0"/>
            </a:p>
            <a:p>
              <a:r>
                <a:rPr lang="es-CO" u="sng" dirty="0">
                  <a:hlinkClick r:id="rId7"/>
                </a:rPr>
                <a:t>  jupeguir@gmail.com</a:t>
              </a:r>
              <a:endParaRPr lang="es-CO" u="sng" dirty="0"/>
            </a:p>
            <a:p>
              <a:pPr lvl="0"/>
              <a:r>
                <a:rPr lang="en-US" dirty="0"/>
                <a:t>  +57 3042452990</a:t>
              </a:r>
              <a:endParaRPr lang="es-CO" dirty="0"/>
            </a:p>
          </p:txBody>
        </p: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11068496-20FC-B474-E71B-996846F55ED7}"/>
                </a:ext>
              </a:extLst>
            </p:cNvPr>
            <p:cNvGrpSpPr/>
            <p:nvPr/>
          </p:nvGrpSpPr>
          <p:grpSpPr>
            <a:xfrm>
              <a:off x="647478" y="5545759"/>
              <a:ext cx="248182" cy="731700"/>
              <a:chOff x="680631" y="4972478"/>
              <a:chExt cx="248182" cy="731700"/>
            </a:xfrm>
          </p:grpSpPr>
          <p:pic>
            <p:nvPicPr>
              <p:cNvPr id="59" name="Imagen 58">
                <a:extLst>
                  <a:ext uri="{FF2B5EF4-FFF2-40B4-BE49-F238E27FC236}">
                    <a16:creationId xmlns:a16="http://schemas.microsoft.com/office/drawing/2014/main" id="{8EC78EC8-D7CE-AC65-81DD-05E99BB42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1864" y="5516086"/>
                <a:ext cx="197223" cy="188092"/>
              </a:xfrm>
              <a:prstGeom prst="rect">
                <a:avLst/>
              </a:prstGeom>
            </p:spPr>
          </p:pic>
          <p:grpSp>
            <p:nvGrpSpPr>
              <p:cNvPr id="62" name="Grupo 61">
                <a:extLst>
                  <a:ext uri="{FF2B5EF4-FFF2-40B4-BE49-F238E27FC236}">
                    <a16:creationId xmlns:a16="http://schemas.microsoft.com/office/drawing/2014/main" id="{18A98CD5-0FEB-8046-8A7E-D0E910BFA823}"/>
                  </a:ext>
                </a:extLst>
              </p:cNvPr>
              <p:cNvGrpSpPr/>
              <p:nvPr/>
            </p:nvGrpSpPr>
            <p:grpSpPr>
              <a:xfrm>
                <a:off x="680631" y="4972478"/>
                <a:ext cx="248182" cy="508411"/>
                <a:chOff x="680631" y="4972478"/>
                <a:chExt cx="248182" cy="508411"/>
              </a:xfrm>
            </p:grpSpPr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806F24C3-443B-5259-3098-40336954B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640" y="4972478"/>
                  <a:ext cx="191192" cy="198236"/>
                </a:xfrm>
                <a:prstGeom prst="rect">
                  <a:avLst/>
                </a:prstGeom>
              </p:spPr>
            </p:pic>
            <p:pic>
              <p:nvPicPr>
                <p:cNvPr id="61" name="Imagen 60">
                  <a:extLst>
                    <a:ext uri="{FF2B5EF4-FFF2-40B4-BE49-F238E27FC236}">
                      <a16:creationId xmlns:a16="http://schemas.microsoft.com/office/drawing/2014/main" id="{B0957C37-9D07-3611-35F6-F856C54F3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80631" y="5274281"/>
                  <a:ext cx="248182" cy="20660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041" name="Grupo 1040">
            <a:extLst>
              <a:ext uri="{FF2B5EF4-FFF2-40B4-BE49-F238E27FC236}">
                <a16:creationId xmlns:a16="http://schemas.microsoft.com/office/drawing/2014/main" id="{0754C167-9292-E705-360B-67419FE8DD42}"/>
              </a:ext>
            </a:extLst>
          </p:cNvPr>
          <p:cNvGrpSpPr/>
          <p:nvPr/>
        </p:nvGrpSpPr>
        <p:grpSpPr>
          <a:xfrm>
            <a:off x="5020495" y="5110853"/>
            <a:ext cx="3292457" cy="1754326"/>
            <a:chOff x="5020495" y="5110853"/>
            <a:chExt cx="3292457" cy="1754326"/>
          </a:xfrm>
        </p:grpSpPr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BEFCF744-F64B-85F6-98CC-F7772D216C69}"/>
                </a:ext>
              </a:extLst>
            </p:cNvPr>
            <p:cNvSpPr txBox="1"/>
            <p:nvPr/>
          </p:nvSpPr>
          <p:spPr>
            <a:xfrm>
              <a:off x="5207621" y="5110853"/>
              <a:ext cx="310533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Kiara Moreno Hernández</a:t>
              </a:r>
            </a:p>
            <a:p>
              <a:r>
                <a:rPr lang="es-CO" u="sng" dirty="0">
                  <a:hlinkClick r:id="rId11"/>
                </a:rPr>
                <a:t>linkedin.com/in/</a:t>
              </a:r>
              <a:r>
                <a:rPr lang="es-CO" u="sng" dirty="0" err="1">
                  <a:hlinkClick r:id="rId11"/>
                </a:rPr>
                <a:t>kiaramoreno</a:t>
              </a:r>
              <a:endParaRPr lang="es-CO" dirty="0"/>
            </a:p>
            <a:p>
              <a:r>
                <a:rPr lang="es-CO" dirty="0">
                  <a:hlinkClick r:id="rId12"/>
                </a:rPr>
                <a:t>morenohernandezkiaramargarita@gmail.com</a:t>
              </a:r>
              <a:endParaRPr lang="es-CO" dirty="0"/>
            </a:p>
            <a:p>
              <a:r>
                <a:rPr lang="en-US" dirty="0"/>
                <a:t>+57 3042281393</a:t>
              </a:r>
              <a:endParaRPr lang="es-CO" dirty="0"/>
            </a:p>
            <a:p>
              <a:endParaRPr lang="es-CO" dirty="0"/>
            </a:p>
          </p:txBody>
        </p:sp>
        <p:grpSp>
          <p:nvGrpSpPr>
            <p:cNvPr id="1039" name="Grupo 1038">
              <a:extLst>
                <a:ext uri="{FF2B5EF4-FFF2-40B4-BE49-F238E27FC236}">
                  <a16:creationId xmlns:a16="http://schemas.microsoft.com/office/drawing/2014/main" id="{782B2A94-E25E-D6AD-9955-EC817004A530}"/>
                </a:ext>
              </a:extLst>
            </p:cNvPr>
            <p:cNvGrpSpPr/>
            <p:nvPr/>
          </p:nvGrpSpPr>
          <p:grpSpPr>
            <a:xfrm>
              <a:off x="5020495" y="5516672"/>
              <a:ext cx="248182" cy="940368"/>
              <a:chOff x="5020495" y="5516672"/>
              <a:chExt cx="248182" cy="940368"/>
            </a:xfrm>
          </p:grpSpPr>
          <p:pic>
            <p:nvPicPr>
              <p:cNvPr id="1026" name="Imagen 1025">
                <a:extLst>
                  <a:ext uri="{FF2B5EF4-FFF2-40B4-BE49-F238E27FC236}">
                    <a16:creationId xmlns:a16="http://schemas.microsoft.com/office/drawing/2014/main" id="{F1C6C191-6B63-886B-304D-6C4C8BB65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3945" y="6268948"/>
                <a:ext cx="197223" cy="188092"/>
              </a:xfrm>
              <a:prstGeom prst="rect">
                <a:avLst/>
              </a:prstGeom>
            </p:spPr>
          </p:pic>
          <p:grpSp>
            <p:nvGrpSpPr>
              <p:cNvPr id="1027" name="Grupo 1026">
                <a:extLst>
                  <a:ext uri="{FF2B5EF4-FFF2-40B4-BE49-F238E27FC236}">
                    <a16:creationId xmlns:a16="http://schemas.microsoft.com/office/drawing/2014/main" id="{7162E5F9-5B92-9E21-3257-E9C3211DCB8B}"/>
                  </a:ext>
                </a:extLst>
              </p:cNvPr>
              <p:cNvGrpSpPr/>
              <p:nvPr/>
            </p:nvGrpSpPr>
            <p:grpSpPr>
              <a:xfrm>
                <a:off x="5020495" y="5516672"/>
                <a:ext cx="248182" cy="508411"/>
                <a:chOff x="680631" y="4972478"/>
                <a:chExt cx="248182" cy="508411"/>
              </a:xfrm>
            </p:grpSpPr>
            <p:pic>
              <p:nvPicPr>
                <p:cNvPr id="1029" name="Imagen 1028">
                  <a:extLst>
                    <a:ext uri="{FF2B5EF4-FFF2-40B4-BE49-F238E27FC236}">
                      <a16:creationId xmlns:a16="http://schemas.microsoft.com/office/drawing/2014/main" id="{D368A4AB-F16C-5A78-E200-0D624CAE54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640" y="4972478"/>
                  <a:ext cx="191192" cy="198236"/>
                </a:xfrm>
                <a:prstGeom prst="rect">
                  <a:avLst/>
                </a:prstGeom>
              </p:spPr>
            </p:pic>
            <p:pic>
              <p:nvPicPr>
                <p:cNvPr id="1030" name="Imagen 1029">
                  <a:extLst>
                    <a:ext uri="{FF2B5EF4-FFF2-40B4-BE49-F238E27FC236}">
                      <a16:creationId xmlns:a16="http://schemas.microsoft.com/office/drawing/2014/main" id="{D48A9D67-AE76-FF29-354E-03E1CFC2C8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80631" y="5274281"/>
                  <a:ext cx="248182" cy="20660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042" name="Grupo 1041">
            <a:extLst>
              <a:ext uri="{FF2B5EF4-FFF2-40B4-BE49-F238E27FC236}">
                <a16:creationId xmlns:a16="http://schemas.microsoft.com/office/drawing/2014/main" id="{E85EF0A4-879A-3309-03CD-CCD9DE79CB71}"/>
              </a:ext>
            </a:extLst>
          </p:cNvPr>
          <p:cNvGrpSpPr/>
          <p:nvPr/>
        </p:nvGrpSpPr>
        <p:grpSpPr>
          <a:xfrm>
            <a:off x="8349342" y="5110854"/>
            <a:ext cx="4003062" cy="1477328"/>
            <a:chOff x="8617164" y="5203691"/>
            <a:chExt cx="3735240" cy="1389979"/>
          </a:xfrm>
        </p:grpSpPr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6240D2FD-E688-894F-DA50-6BBE7AB48932}"/>
                </a:ext>
              </a:extLst>
            </p:cNvPr>
            <p:cNvSpPr txBox="1"/>
            <p:nvPr/>
          </p:nvSpPr>
          <p:spPr>
            <a:xfrm>
              <a:off x="8865346" y="5203691"/>
              <a:ext cx="3487058" cy="1389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Juliana Higuita Velásquez</a:t>
              </a:r>
            </a:p>
            <a:p>
              <a:r>
                <a:rPr lang="es-ES" u="sng" dirty="0">
                  <a:hlinkClick r:id="rId13"/>
                </a:rPr>
                <a:t>linkedin.com/in/</a:t>
              </a:r>
              <a:r>
                <a:rPr lang="es-ES" u="sng" dirty="0" err="1">
                  <a:hlinkClick r:id="rId13"/>
                </a:rPr>
                <a:t>julianahiguita</a:t>
              </a:r>
              <a:endParaRPr lang="es-ES" u="sng" dirty="0"/>
            </a:p>
            <a:p>
              <a:r>
                <a:rPr lang="es-CO" dirty="0">
                  <a:hlinkClick r:id="rId14"/>
                </a:rPr>
                <a:t>juliana-higuita1017@hotmail.com</a:t>
              </a:r>
              <a:endParaRPr lang="es-CO" dirty="0"/>
            </a:p>
            <a:p>
              <a:r>
                <a:rPr lang="es-CO" dirty="0"/>
                <a:t>+57 3122630233</a:t>
              </a:r>
            </a:p>
            <a:p>
              <a:endParaRPr lang="es-CO" dirty="0"/>
            </a:p>
          </p:txBody>
        </p:sp>
        <p:grpSp>
          <p:nvGrpSpPr>
            <p:cNvPr id="1032" name="Grupo 1031">
              <a:extLst>
                <a:ext uri="{FF2B5EF4-FFF2-40B4-BE49-F238E27FC236}">
                  <a16:creationId xmlns:a16="http://schemas.microsoft.com/office/drawing/2014/main" id="{2E6CF49D-F524-8852-3124-22E077002AA7}"/>
                </a:ext>
              </a:extLst>
            </p:cNvPr>
            <p:cNvGrpSpPr/>
            <p:nvPr/>
          </p:nvGrpSpPr>
          <p:grpSpPr>
            <a:xfrm>
              <a:off x="8617164" y="5537248"/>
              <a:ext cx="248182" cy="731700"/>
              <a:chOff x="680631" y="4972478"/>
              <a:chExt cx="248182" cy="731700"/>
            </a:xfrm>
          </p:grpSpPr>
          <p:pic>
            <p:nvPicPr>
              <p:cNvPr id="1033" name="Imagen 1032">
                <a:extLst>
                  <a:ext uri="{FF2B5EF4-FFF2-40B4-BE49-F238E27FC236}">
                    <a16:creationId xmlns:a16="http://schemas.microsoft.com/office/drawing/2014/main" id="{74EFA3BE-EB1D-95A8-BFA0-2ADE9B3C2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1864" y="5516086"/>
                <a:ext cx="197223" cy="188092"/>
              </a:xfrm>
              <a:prstGeom prst="rect">
                <a:avLst/>
              </a:prstGeom>
            </p:spPr>
          </p:pic>
          <p:grpSp>
            <p:nvGrpSpPr>
              <p:cNvPr id="1035" name="Grupo 1034">
                <a:extLst>
                  <a:ext uri="{FF2B5EF4-FFF2-40B4-BE49-F238E27FC236}">
                    <a16:creationId xmlns:a16="http://schemas.microsoft.com/office/drawing/2014/main" id="{2726F322-6ABC-5754-3914-89797FD37FD2}"/>
                  </a:ext>
                </a:extLst>
              </p:cNvPr>
              <p:cNvGrpSpPr/>
              <p:nvPr/>
            </p:nvGrpSpPr>
            <p:grpSpPr>
              <a:xfrm>
                <a:off x="680631" y="4972478"/>
                <a:ext cx="248182" cy="508411"/>
                <a:chOff x="680631" y="4972478"/>
                <a:chExt cx="248182" cy="508411"/>
              </a:xfrm>
            </p:grpSpPr>
            <p:pic>
              <p:nvPicPr>
                <p:cNvPr id="1036" name="Imagen 1035">
                  <a:extLst>
                    <a:ext uri="{FF2B5EF4-FFF2-40B4-BE49-F238E27FC236}">
                      <a16:creationId xmlns:a16="http://schemas.microsoft.com/office/drawing/2014/main" id="{A5A0E047-0B93-CBC1-155D-7A0206F823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640" y="4972478"/>
                  <a:ext cx="191192" cy="198236"/>
                </a:xfrm>
                <a:prstGeom prst="rect">
                  <a:avLst/>
                </a:prstGeom>
              </p:spPr>
            </p:pic>
            <p:pic>
              <p:nvPicPr>
                <p:cNvPr id="1038" name="Imagen 1037">
                  <a:extLst>
                    <a:ext uri="{FF2B5EF4-FFF2-40B4-BE49-F238E27FC236}">
                      <a16:creationId xmlns:a16="http://schemas.microsoft.com/office/drawing/2014/main" id="{3E67DB82-4F01-B1B6-B73E-4165043289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80631" y="5274281"/>
                  <a:ext cx="248182" cy="20660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F015C8A-ECFA-64B5-0E5D-4BDE75B1B4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77" y="2633824"/>
            <a:ext cx="1902667" cy="253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68454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218</TotalTime>
  <Words>265</Words>
  <Application>Microsoft Office PowerPoint</Application>
  <PresentationFormat>Panorámica</PresentationFormat>
  <Paragraphs>37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Aptos</vt:lpstr>
      <vt:lpstr>Franklin Gothic Book</vt:lpstr>
      <vt:lpstr>Recorte</vt:lpstr>
      <vt:lpstr>Presentación de PowerPoint</vt:lpstr>
      <vt:lpstr>Ponentes</vt:lpstr>
      <vt:lpstr>Modelo Relacional</vt:lpstr>
      <vt:lpstr>Creación de Base de Datos</vt:lpstr>
      <vt:lpstr>Población de Datos</vt:lpstr>
      <vt:lpstr>Análisis de Datos - Dashboard</vt:lpstr>
      <vt:lpstr>Presentación de PowerPoint</vt:lpstr>
      <vt:lpstr>Presentación de PowerPoint</vt:lpstr>
      <vt:lpstr>Presentación de PowerPoint</vt:lpstr>
      <vt:lpstr>Conclusiones</vt:lpstr>
      <vt:lpstr>Estrategias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5</cp:revision>
  <dcterms:created xsi:type="dcterms:W3CDTF">2026-03-20T20:11:37Z</dcterms:created>
  <dcterms:modified xsi:type="dcterms:W3CDTF">2026-03-25T20:33:31Z</dcterms:modified>
</cp:coreProperties>
</file>